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405-64DF-498E-AB42-80E9002CF38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82BA-E849-41BF-BB2B-CA1EF6C022F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331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405-64DF-498E-AB42-80E9002CF38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82BA-E849-41BF-BB2B-CA1EF6C02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07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405-64DF-498E-AB42-80E9002CF38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82BA-E849-41BF-BB2B-CA1EF6C02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11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405-64DF-498E-AB42-80E9002CF38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82BA-E849-41BF-BB2B-CA1EF6C02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381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405-64DF-498E-AB42-80E9002CF38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82BA-E849-41BF-BB2B-CA1EF6C02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928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405-64DF-498E-AB42-80E9002CF38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82BA-E849-41BF-BB2B-CA1EF6C02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779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405-64DF-498E-AB42-80E9002CF38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82BA-E849-41BF-BB2B-CA1EF6C02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5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405-64DF-498E-AB42-80E9002CF38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82BA-E849-41BF-BB2B-CA1EF6C02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02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405-64DF-498E-AB42-80E9002CF38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82BA-E849-41BF-BB2B-CA1EF6C02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31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405-64DF-498E-AB42-80E9002CF38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82BA-E849-41BF-BB2B-CA1EF6C02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0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405-64DF-498E-AB42-80E9002CF38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82BA-E849-41BF-BB2B-CA1EF6C02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81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405-64DF-498E-AB42-80E9002CF38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82BA-E849-41BF-BB2B-CA1EF6C022F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8098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405-64DF-498E-AB42-80E9002CF38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82BA-E849-41BF-BB2B-CA1EF6C02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39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405-64DF-498E-AB42-80E9002CF38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82BA-E849-41BF-BB2B-CA1EF6C022F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42644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405-64DF-498E-AB42-80E9002CF38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82BA-E849-41BF-BB2B-CA1EF6C02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1984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405-64DF-498E-AB42-80E9002CF38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82BA-E849-41BF-BB2B-CA1EF6C02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14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0405-64DF-498E-AB42-80E9002CF38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E82BA-E849-41BF-BB2B-CA1EF6C02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96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F1F0405-64DF-498E-AB42-80E9002CF38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6AE82BA-E849-41BF-BB2B-CA1EF6C02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7580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Data Science for Agentic AI 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Mary Ann Mastri </a:t>
            </a:r>
          </a:p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April 21, 2026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612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610300"/>
            <a:ext cx="8534400" cy="790662"/>
          </a:xfrm>
        </p:spPr>
        <p:txBody>
          <a:bodyPr/>
          <a:lstStyle/>
          <a:p>
            <a:r>
              <a:rPr lang="en-US" b="1" dirty="0"/>
              <a:t>Introduction to Agentic </a:t>
            </a:r>
            <a:r>
              <a:rPr lang="en-US" b="1" dirty="0" smtClean="0"/>
              <a:t>AI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1" y="1717646"/>
            <a:ext cx="9751693" cy="3340916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Agentic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AI: systems that observe, plan, act, and learn </a:t>
            </a:r>
            <a:endParaRPr lang="en-US" sz="2800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Data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science powers perception, reasoning, and adaptation </a:t>
            </a:r>
            <a:endParaRPr lang="en-US" sz="2800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Integrated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across the full ML workflow </a:t>
            </a:r>
            <a:endParaRPr lang="en-US" sz="2800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Enables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autonomy, reliability, and continuous improvement</a:t>
            </a:r>
            <a:endParaRPr lang="en-U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863" y="4911212"/>
            <a:ext cx="2072387" cy="194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929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540502"/>
            <a:ext cx="8534400" cy="875795"/>
          </a:xfrm>
        </p:spPr>
        <p:txBody>
          <a:bodyPr/>
          <a:lstStyle/>
          <a:p>
            <a:r>
              <a:rPr lang="en-US" b="1" dirty="0"/>
              <a:t>Key Concepts &amp;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2038524"/>
            <a:ext cx="9936250" cy="307037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Autonomy Loop: observe → decide → act → learn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World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Models: internal environment representations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Reward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Modeling: defining and learning objectives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Tool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Use: agents calling APIs or external systems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Memory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Systems: short‑term + long‑term context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006" y="5192328"/>
            <a:ext cx="2786661" cy="16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158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685801"/>
            <a:ext cx="8534400" cy="757106"/>
          </a:xfrm>
        </p:spPr>
        <p:txBody>
          <a:bodyPr/>
          <a:lstStyle/>
          <a:p>
            <a:r>
              <a:rPr lang="en-US" b="1" dirty="0"/>
              <a:t>Techniques &amp;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482754"/>
            <a:ext cx="9936250" cy="301374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Real‑time data pipelines and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validation 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Reinforcement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imittion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, and self‑supervised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learning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Retrieval‑augmented reasoning 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Planning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methods: MCTS, model‑based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RL 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Continuous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agent loop for self‑improvement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605" y="4724321"/>
            <a:ext cx="3621463" cy="213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844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514137"/>
            <a:ext cx="8534400" cy="1507067"/>
          </a:xfrm>
        </p:spPr>
        <p:txBody>
          <a:bodyPr/>
          <a:lstStyle/>
          <a:p>
            <a:r>
              <a:rPr lang="en-US" b="1" dirty="0"/>
              <a:t>Data Requirements for Agentic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9936250" cy="5597554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chemeClr val="bg2">
                    <a:lumMod val="50000"/>
                  </a:schemeClr>
                </a:solidFill>
              </a:rPr>
              <a:t>High‑quality, real‑time data for perception and </a:t>
            </a:r>
            <a:r>
              <a:rPr lang="en-US" sz="2600" dirty="0" smtClean="0">
                <a:solidFill>
                  <a:schemeClr val="bg2">
                    <a:lumMod val="50000"/>
                  </a:schemeClr>
                </a:solidFill>
              </a:rPr>
              <a:t>decisions</a:t>
            </a:r>
          </a:p>
          <a:p>
            <a:r>
              <a:rPr lang="en-US" sz="26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600" dirty="0">
                <a:solidFill>
                  <a:schemeClr val="bg2">
                    <a:lumMod val="50000"/>
                  </a:schemeClr>
                </a:solidFill>
              </a:rPr>
              <a:t>Validated, consistent, drift‑resistant data </a:t>
            </a:r>
            <a:r>
              <a:rPr lang="en-US" sz="2600" dirty="0" smtClean="0">
                <a:solidFill>
                  <a:schemeClr val="bg2">
                    <a:lumMod val="50000"/>
                  </a:schemeClr>
                </a:solidFill>
              </a:rPr>
              <a:t>streams </a:t>
            </a:r>
          </a:p>
          <a:p>
            <a:r>
              <a:rPr lang="en-US" sz="2600" dirty="0" smtClean="0">
                <a:solidFill>
                  <a:schemeClr val="bg2">
                    <a:lumMod val="50000"/>
                  </a:schemeClr>
                </a:solidFill>
              </a:rPr>
              <a:t>Multimodal </a:t>
            </a:r>
            <a:r>
              <a:rPr lang="en-US" sz="2600" dirty="0">
                <a:solidFill>
                  <a:schemeClr val="bg2">
                    <a:lumMod val="50000"/>
                  </a:schemeClr>
                </a:solidFill>
              </a:rPr>
              <a:t>inputs: text, sensors, logs, </a:t>
            </a:r>
            <a:r>
              <a:rPr lang="en-US" sz="2600" dirty="0" err="1" smtClean="0">
                <a:solidFill>
                  <a:schemeClr val="bg2">
                    <a:lumMod val="50000"/>
                  </a:schemeClr>
                </a:solidFill>
              </a:rPr>
              <a:t>embeddings</a:t>
            </a:r>
            <a:endParaRPr lang="en-US" sz="2600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2600" dirty="0" smtClean="0">
                <a:solidFill>
                  <a:schemeClr val="bg2">
                    <a:lumMod val="50000"/>
                  </a:schemeClr>
                </a:solidFill>
              </a:rPr>
              <a:t>Structured </a:t>
            </a:r>
            <a:r>
              <a:rPr lang="en-US" sz="2600" dirty="0">
                <a:solidFill>
                  <a:schemeClr val="bg2">
                    <a:lumMod val="50000"/>
                  </a:schemeClr>
                </a:solidFill>
              </a:rPr>
              <a:t>memory stores for long‑term </a:t>
            </a:r>
            <a:r>
              <a:rPr lang="en-US" sz="2600" dirty="0" smtClean="0">
                <a:solidFill>
                  <a:schemeClr val="bg2">
                    <a:lumMod val="50000"/>
                  </a:schemeClr>
                </a:solidFill>
              </a:rPr>
              <a:t>learning</a:t>
            </a:r>
          </a:p>
          <a:p>
            <a:r>
              <a:rPr lang="en-US" sz="2600" dirty="0" smtClean="0">
                <a:solidFill>
                  <a:schemeClr val="bg2">
                    <a:lumMod val="50000"/>
                  </a:schemeClr>
                </a:solidFill>
              </a:rPr>
              <a:t>Feedback </a:t>
            </a:r>
            <a:r>
              <a:rPr lang="en-US" sz="2600" dirty="0">
                <a:solidFill>
                  <a:schemeClr val="bg2">
                    <a:lumMod val="50000"/>
                  </a:schemeClr>
                </a:solidFill>
              </a:rPr>
              <a:t>signals for reward modeling and improvement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565" y="4949505"/>
            <a:ext cx="5027544" cy="190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05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659001"/>
          </a:xfrm>
        </p:spPr>
        <p:txBody>
          <a:bodyPr/>
          <a:lstStyle/>
          <a:p>
            <a:r>
              <a:rPr lang="en-US" b="1" dirty="0"/>
              <a:t>Real‑World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702966"/>
            <a:ext cx="9936250" cy="235730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Warehouse robots using RL + sensor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fusion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AI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assistants using retrieval and tool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use 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Trading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agents optimizing portfolios in real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time 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Data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science ensures stability, safety, and accuracy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079" y="4448156"/>
            <a:ext cx="4878686" cy="24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948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60027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Tools &amp;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652630"/>
            <a:ext cx="9936250" cy="239925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Pipelines: Beam, Airflow, Kafka,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Snowflake 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Modeling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PyTorch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TensorFlow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, Hugging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Face 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Agent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frameworks: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LangChain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AutoGen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RLlib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Practice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environments: Gym,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MuJoCo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, domain logs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146" y="4051881"/>
            <a:ext cx="5824814" cy="282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263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726113"/>
          </a:xfrm>
        </p:spPr>
        <p:txBody>
          <a:bodyPr/>
          <a:lstStyle/>
          <a:p>
            <a:r>
              <a:rPr lang="en-US" b="1" dirty="0"/>
              <a:t>Challenges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348531"/>
            <a:ext cx="9936250" cy="2837575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Challenges: data drift, reward issues,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hallucinations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Safety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risks in autonomous decision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making 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Best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practices: human‑in‑the‑loop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evaluation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Continuous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monitoring and data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validation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Clear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, interpretable reward functions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465" y="4462943"/>
            <a:ext cx="6367744" cy="239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701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747398"/>
          </a:xfrm>
        </p:spPr>
        <p:txBody>
          <a:bodyPr/>
          <a:lstStyle/>
          <a:p>
            <a:r>
              <a:rPr lang="en-US" b="1" dirty="0"/>
              <a:t>Emerging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711354"/>
            <a:ext cx="9936250" cy="2793534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LLM agents with planning and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memory 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Self‑improving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reflective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agents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Differentiable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simulators for safe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training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Multi‑agent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collaboration and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negotiation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Neural‑symbolic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reasoning hybrids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267" y="4808211"/>
            <a:ext cx="4600140" cy="205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01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734502"/>
          </a:xfrm>
        </p:spPr>
        <p:txBody>
          <a:bodyPr/>
          <a:lstStyle/>
          <a:p>
            <a:r>
              <a:rPr lang="en-US" b="1" dirty="0"/>
              <a:t>Visual / Interactive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575033"/>
            <a:ext cx="9936250" cy="224195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Autonomy loop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diagram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Agent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memory + planning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workflow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RL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training curve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animation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Short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demo of tool‑using agent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595" y="4026417"/>
            <a:ext cx="7411484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599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324" y="685800"/>
            <a:ext cx="8534400" cy="882941"/>
          </a:xfrm>
        </p:spPr>
        <p:txBody>
          <a:bodyPr/>
          <a:lstStyle/>
          <a:p>
            <a:r>
              <a:rPr lang="en-US" b="1" dirty="0"/>
              <a:t>Summary &amp;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324" y="1907640"/>
            <a:ext cx="9936250" cy="2739861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Data science is the backbone of agentic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AI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Strong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pipelines and feedback loops enable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autonomy 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RL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, retrieval, and world models drive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adaptation 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Monitoring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and safety are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essential </a:t>
            </a:r>
          </a:p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Field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evolving toward self‑improving agents</a:t>
            </a:r>
          </a:p>
        </p:txBody>
      </p:sp>
      <p:pic>
        <p:nvPicPr>
          <p:cNvPr id="1026" name="Picture 2" descr="Illuminated Pathway through a Japanese Garden at Twilight Stock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4410" y="4928581"/>
            <a:ext cx="3430078" cy="1929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5959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685801"/>
            <a:ext cx="8534400" cy="840996"/>
          </a:xfrm>
        </p:spPr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23751"/>
            <a:ext cx="9936250" cy="4171426"/>
          </a:xfrm>
        </p:spPr>
        <p:txBody>
          <a:bodyPr>
            <a:normAutofit fontScale="70000" lnSpcReduction="20000"/>
          </a:bodyPr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Sutton, R. S., &amp;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Barto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, A. G. (2018).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i="1" dirty="0">
                <a:solidFill>
                  <a:schemeClr val="bg2">
                    <a:lumMod val="50000"/>
                  </a:schemeClr>
                </a:solidFill>
              </a:rPr>
              <a:t>Reinforcement Learning: An Introduction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(2nd ed.). MIT Press.</a:t>
            </a:r>
          </a:p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Wang, Y., et al. (2023).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i="1" dirty="0">
                <a:solidFill>
                  <a:schemeClr val="bg2">
                    <a:lumMod val="50000"/>
                  </a:schemeClr>
                </a:solidFill>
              </a:rPr>
              <a:t>Voyager: An Open‑Ended Embodied Agent with LLMs.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arXiv:2305.16291.</a:t>
            </a:r>
          </a:p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Shinn, N.,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Cassano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, F., &amp;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Gopinath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, A. (2023).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bg2">
                    <a:lumMod val="50000"/>
                  </a:schemeClr>
                </a:solidFill>
              </a:rPr>
              <a:t>Reflexion</a:t>
            </a:r>
            <a:r>
              <a:rPr lang="en-US" sz="2400" i="1" dirty="0">
                <a:solidFill>
                  <a:schemeClr val="bg2">
                    <a:lumMod val="50000"/>
                  </a:schemeClr>
                </a:solidFill>
              </a:rPr>
              <a:t>: Language Agents with Verbal Reinforcement Learning.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arXiv:2303.11366.</a:t>
            </a:r>
          </a:p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Richards, M., et al. (2023).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bg2">
                    <a:lumMod val="50000"/>
                  </a:schemeClr>
                </a:solidFill>
              </a:rPr>
              <a:t>AutoGPT</a:t>
            </a:r>
            <a:r>
              <a:rPr lang="en-US" sz="2400" i="1" dirty="0">
                <a:solidFill>
                  <a:schemeClr val="bg2">
                    <a:lumMod val="50000"/>
                  </a:schemeClr>
                </a:solidFill>
              </a:rPr>
              <a:t>: An Autonomous GPT‑4 Experiment.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GitHub repository.</a:t>
            </a:r>
          </a:p>
          <a:p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OpenAI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. (2023).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i="1" dirty="0">
                <a:solidFill>
                  <a:schemeClr val="bg2">
                    <a:lumMod val="50000"/>
                  </a:schemeClr>
                </a:solidFill>
              </a:rPr>
              <a:t>GPT‑4 Technical Report.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arXiv:2303.08774.</a:t>
            </a:r>
          </a:p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Reed, S., et al. (2022).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i="1" dirty="0">
                <a:solidFill>
                  <a:schemeClr val="bg2">
                    <a:lumMod val="50000"/>
                  </a:schemeClr>
                </a:solidFill>
              </a:rPr>
              <a:t>A Generalist Agent (</a:t>
            </a:r>
            <a:r>
              <a:rPr lang="en-US" sz="2400" i="1" dirty="0" err="1">
                <a:solidFill>
                  <a:schemeClr val="bg2">
                    <a:lumMod val="50000"/>
                  </a:schemeClr>
                </a:solidFill>
              </a:rPr>
              <a:t>Gato</a:t>
            </a:r>
            <a:r>
              <a:rPr lang="en-US" sz="2400" i="1" dirty="0">
                <a:solidFill>
                  <a:schemeClr val="bg2">
                    <a:lumMod val="50000"/>
                  </a:schemeClr>
                </a:solidFill>
              </a:rPr>
              <a:t>).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i="1" dirty="0">
                <a:solidFill>
                  <a:schemeClr val="bg2">
                    <a:lumMod val="50000"/>
                  </a:schemeClr>
                </a:solidFill>
              </a:rPr>
              <a:t>Nature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, 610, 67–73.</a:t>
            </a:r>
          </a:p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Anthropic. (2024).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i="1" dirty="0">
                <a:solidFill>
                  <a:schemeClr val="bg2">
                    <a:lumMod val="50000"/>
                  </a:schemeClr>
                </a:solidFill>
              </a:rPr>
              <a:t>Model Context Protocol (MCP).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Anthropic Research.</a:t>
            </a:r>
          </a:p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Hugging Face. (2023).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i="1" dirty="0">
                <a:solidFill>
                  <a:schemeClr val="bg2">
                    <a:lumMod val="50000"/>
                  </a:schemeClr>
                </a:solidFill>
              </a:rPr>
              <a:t>Transformers Library.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GitHub repository.</a:t>
            </a:r>
          </a:p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Microsoft. (2023).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bg2">
                    <a:lumMod val="50000"/>
                  </a:schemeClr>
                </a:solidFill>
              </a:rPr>
              <a:t>AutoGen</a:t>
            </a:r>
            <a:r>
              <a:rPr lang="en-US" sz="2400" i="1" dirty="0">
                <a:solidFill>
                  <a:schemeClr val="bg2">
                    <a:lumMod val="50000"/>
                  </a:schemeClr>
                </a:solidFill>
              </a:rPr>
              <a:t>: Multi‑Agent Framework.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GitHub repository.</a:t>
            </a:r>
          </a:p>
          <a:p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LangChain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. (2023).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bg2">
                    <a:lumMod val="50000"/>
                  </a:schemeClr>
                </a:solidFill>
              </a:rPr>
              <a:t>LangChain</a:t>
            </a:r>
            <a:r>
              <a:rPr lang="en-US" sz="2400" i="1" dirty="0">
                <a:solidFill>
                  <a:schemeClr val="bg2">
                    <a:lumMod val="50000"/>
                  </a:schemeClr>
                </a:solidFill>
              </a:rPr>
              <a:t> Framework.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GitHub repository.</a:t>
            </a:r>
          </a:p>
          <a:p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543556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61</TotalTime>
  <Words>532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Slice</vt:lpstr>
      <vt:lpstr>Data Science for Agentic AI </vt:lpstr>
      <vt:lpstr>Introduction to Agentic AI</vt:lpstr>
      <vt:lpstr>Key Concepts &amp; Terminology</vt:lpstr>
      <vt:lpstr>Techniques &amp; Approaches</vt:lpstr>
      <vt:lpstr>Data Requirements for Agentic Systems</vt:lpstr>
      <vt:lpstr>Real‑World Examples</vt:lpstr>
      <vt:lpstr>Tools &amp; Platforms</vt:lpstr>
      <vt:lpstr>Challenges &amp; Best Practices</vt:lpstr>
      <vt:lpstr>Emerging Trends</vt:lpstr>
      <vt:lpstr>Visual / Interactive Elements</vt:lpstr>
      <vt:lpstr>Summary &amp; Takeaways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for Agentic AI</dc:title>
  <dc:creator>MARY ANN</dc:creator>
  <cp:lastModifiedBy>MARY ANN</cp:lastModifiedBy>
  <cp:revision>8</cp:revision>
  <dcterms:created xsi:type="dcterms:W3CDTF">2026-04-21T03:47:49Z</dcterms:created>
  <dcterms:modified xsi:type="dcterms:W3CDTF">2026-04-21T04:49:11Z</dcterms:modified>
</cp:coreProperties>
</file>